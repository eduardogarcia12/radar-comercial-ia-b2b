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0"/>
  </p:notesMasterIdLst>
  <p:sldIdLst>
    <p:sldId id="256" r:id="rId2"/>
    <p:sldId id="257" r:id="rId3"/>
    <p:sldId id="267" r:id="rId4"/>
    <p:sldId id="274" r:id="rId5"/>
    <p:sldId id="258" r:id="rId6"/>
    <p:sldId id="259" r:id="rId7"/>
    <p:sldId id="261" r:id="rId8"/>
    <p:sldId id="262" r:id="rId9"/>
    <p:sldId id="266" r:id="rId10"/>
    <p:sldId id="271" r:id="rId11"/>
    <p:sldId id="272" r:id="rId12"/>
    <p:sldId id="273" r:id="rId13"/>
    <p:sldId id="263" r:id="rId14"/>
    <p:sldId id="264" r:id="rId15"/>
    <p:sldId id="265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60" autoAdjust="0"/>
    <p:restoredTop sz="94660"/>
  </p:normalViewPr>
  <p:slideViewPr>
    <p:cSldViewPr snapToGrid="0">
      <p:cViewPr varScale="1">
        <p:scale>
          <a:sx n="56" d="100"/>
          <a:sy n="56" d="100"/>
        </p:scale>
        <p:origin x="12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1DBC1E-B9AF-493C-858D-A4B28EFE0C75}" type="datetimeFigureOut">
              <a:rPr lang="es-MX" smtClean="0"/>
              <a:t>12/06/2026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460662-03CE-4C6C-844D-45FE998B023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026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60662-03CE-4C6C-844D-45FE998B0237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9057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60662-03CE-4C6C-844D-45FE998B0237}" type="slidenum">
              <a:rPr lang="es-MX" smtClean="0"/>
              <a:t>16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27424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29BF1E-BBB1-71F7-B9C0-DDA66E040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9FA2F9C-4931-0D2E-8DD9-3F8D73AEF6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B0A9E7-03C7-3800-ED7C-B8B2F286C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FEFCB-4A41-4AFB-9992-49404AC8A60A}" type="datetime1">
              <a:rPr lang="es-MX" smtClean="0"/>
              <a:t>12/06/2026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E3F74E-1DC0-F1D3-42F9-11517C707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F286F9-4EEB-AA5B-EF81-72BFAA76E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8706F-DBBC-4EC7-BAED-4F21D8F001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99031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A0872E-9A75-0BF5-BFDF-2DC9B0A65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066622-E8F2-734D-F2FC-D543D5DEC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D62B9E-D2D0-9CC9-5493-AA8E2E35B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61AE9-27B3-4EC5-818D-D37FE58093BB}" type="datetime1">
              <a:rPr lang="es-MX" smtClean="0"/>
              <a:t>12/06/2026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9EAC8D-B881-65BA-A020-AC0B7E4DA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27EE8A-7F62-C372-8D82-23BC862B0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8706F-DBBC-4EC7-BAED-4F21D8F001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73279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141087-30DF-290A-DA9D-1294C3C0E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D196DAE-7541-4B0C-B5CC-DD0DD58D85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6CAD5E-9D1B-97F9-EA58-B0C88580E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DD953-6499-4919-875C-0D4CAB801E4F}" type="datetime1">
              <a:rPr lang="es-MX" smtClean="0"/>
              <a:t>12/06/2026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21EB5A-E62D-43A2-12F3-446D83A7E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32CE47-D56A-B1B8-8917-5350974CB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8706F-DBBC-4EC7-BAED-4F21D8F001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844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339AF1-A75D-1236-46D2-C60BDA9C3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83397F-0983-D93D-D604-3FB5776A3E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3C70E3C-70A4-2DB1-BE77-88CD8DBC02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160E9F8-77CC-585F-E566-CC1ECF0B4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3A7AB-132A-4877-B691-20E323797638}" type="datetime1">
              <a:rPr lang="es-MX" smtClean="0"/>
              <a:t>12/06/2026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8D74F54-8B56-622B-9FD0-A6D2EC6A3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C9196B-DA5D-C28E-C02D-68BD474C9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8706F-DBBC-4EC7-BAED-4F21D8F001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8887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D7BB7C-9CD4-FDDB-3598-2F714DC4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2ABAA4-DFBF-A372-BAEA-00AD5C999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EB35BD1-FB25-8B0B-7F90-373795431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3891F63-9988-3B22-B39F-B6EE8A4108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18F0E2F-1731-BADA-696E-A9D4E228C9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BE0AE92-11E6-23C5-27C4-7587179A2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5F2AA-6F28-43AF-9F7D-4901FB143193}" type="datetime1">
              <a:rPr lang="es-MX" smtClean="0"/>
              <a:t>12/06/2026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8563778-D757-3E72-5B96-682BB1BEA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5908F3A-F368-22BD-2C69-7ED351450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8706F-DBBC-4EC7-BAED-4F21D8F001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5389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D4D5A9-7D6A-6BDA-A915-F2BBCC6A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91D0BBD-FBC5-1185-5D07-CE136257B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858B-9445-42B8-9636-07DC0EC9465C}" type="datetime1">
              <a:rPr lang="es-MX" smtClean="0"/>
              <a:t>12/06/2026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047F9CA-5FBF-4555-8172-653D4BDC5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DC912B9-1562-167C-6B87-253BB00E7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8706F-DBBC-4EC7-BAED-4F21D8F001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53767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97A0937-D0E9-4247-9C2E-CF1204674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7FDCF-932B-4089-BCE0-FC83BCC147AB}" type="datetime1">
              <a:rPr lang="es-MX" smtClean="0"/>
              <a:t>12/06/2026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882F662-08AB-FC55-5FFA-034D7C8A1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4377746-EB24-3890-D92C-59DA4B8F5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8706F-DBBC-4EC7-BAED-4F21D8F001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24980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206E9A-FB83-DE54-3F48-2AD323A4D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33FB95-A408-C2A3-8CC5-5296A8B14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0A3782-C059-E52A-4655-87C9409F35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91ADF1-C345-246D-2428-6D1F9F86C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AAC55-5251-4F00-A53B-EB534DF3489C}" type="datetime1">
              <a:rPr lang="es-MX" smtClean="0"/>
              <a:t>12/06/2026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661EC5A-46FD-DBFC-C1C7-2A06C6BEF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D0F998-DDF7-1E14-D206-2AF26A52B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8706F-DBBC-4EC7-BAED-4F21D8F001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77782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A16940-F34C-32ED-A5AC-3BC012358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7B8B9EF-522E-1F59-B292-F4B19486D8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B63B54-D15C-BDB2-8630-B5D4323E79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BCEDC2D-134D-799F-48BB-AD224E449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F0DE-2D59-4029-BA32-BEE71C845805}" type="datetime1">
              <a:rPr lang="es-MX" smtClean="0"/>
              <a:t>12/06/2026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A0B9798-FB58-121F-FA37-6CEAF49B2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764CC6-EF36-2C77-D1F9-2F66E1B48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8706F-DBBC-4EC7-BAED-4F21D8F001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87728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0E1F18-2147-A35F-48B4-DC14C2C39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65F468E-19D4-C31F-0D73-A5E4F7B2F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145023-1EF8-6529-0886-7864E5356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9049A-29B4-4031-9E80-5D17DD3B150C}" type="datetime1">
              <a:rPr lang="es-MX" smtClean="0"/>
              <a:t>12/06/2026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BF285D-ACA1-03D3-C644-1C68DCF96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B6F14-6E50-0353-462F-4FAA687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8706F-DBBC-4EC7-BAED-4F21D8F001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13754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630D025-8F87-EF8E-194C-E7EFB710C5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09871E-DD9D-9F6C-D846-835D5EA27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A7E077-E9A5-A2AD-FEA5-CE5D7ED94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27A37-554B-49CE-96C8-F97AFE5A33D2}" type="datetime1">
              <a:rPr lang="es-MX" smtClean="0"/>
              <a:t>12/06/2026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5C9A93-9BA3-E2D7-21C9-252905D14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BD1EB7-3B91-BEAF-76EB-FBBE69A6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8706F-DBBC-4EC7-BAED-4F21D8F001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41611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E155CBE-FBBB-F3E3-ABE7-6B85DCD2B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F6D5270-8F70-A2C5-0BC4-90BE9BAAE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6A212A-7FE4-DD1F-CE41-BFAB7C94AD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A2B68-3ABB-49BC-A1B1-BA43324DEBFC}" type="datetime1">
              <a:rPr lang="es-MX" smtClean="0"/>
              <a:t>12/06/2026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AA71F5-FA92-6584-76A3-5EEDBBE369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1C0422-4ACC-DEB7-9180-0D531ADDC5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D8706F-DBBC-4EC7-BAED-4F21D8F001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5707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D1877FC-5A97-C6C5-94DB-B4D38F1B1268}"/>
              </a:ext>
            </a:extLst>
          </p:cNvPr>
          <p:cNvSpPr txBox="1"/>
          <p:nvPr/>
        </p:nvSpPr>
        <p:spPr>
          <a:xfrm>
            <a:off x="0" y="0"/>
            <a:ext cx="12192000" cy="444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Problema y contexto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s-MX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Una empresa B2B industrial factura entre $10 y $20 millones mensuales.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Vende soluciones, productos o proyectos a empresas medianas y grandes. Tiene vendedores, pero su proceso comercial está desordenado, como: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Prospectos de diversas fuentes, calificación clara de oportunidades, no hay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scoring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comercial, usar IA.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dirty="0"/>
          </a:p>
          <a:p>
            <a:endParaRPr lang="es-MX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CD5581E-C134-B282-3928-45147FCD626C}"/>
              </a:ext>
            </a:extLst>
          </p:cNvPr>
          <p:cNvSpPr txBox="1"/>
          <p:nvPr/>
        </p:nvSpPr>
        <p:spPr>
          <a:xfrm>
            <a:off x="0" y="3261832"/>
            <a:ext cx="12192000" cy="194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¿Qué problema existe?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Falta de priorización, seguimiento inconsistente y poca visibilidad para Dirección.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¿se puede utilizar un mini agente?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s-MX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CBB947-5F43-2FC1-6DC9-054688B78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8706F-DBBC-4EC7-BAED-4F21D8F00145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82211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A892365-FAD0-7C8A-32E4-010FFCE023E1}"/>
              </a:ext>
            </a:extLst>
          </p:cNvPr>
          <p:cNvSpPr txBox="1"/>
          <p:nvPr/>
        </p:nvSpPr>
        <p:spPr>
          <a:xfrm>
            <a:off x="0" y="189188"/>
            <a:ext cx="12192000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1. Antes de usar IA  </a:t>
            </a: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Objetivo comercial del agente: Mejorar la gestión y conversión de oportunidades comerciales.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Problema real que busca resolver: Falta de un proceso, establecer criterios, seguimiento inconsistentes, oportunidades sin responsable y la falta de visibilidad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Datos mínimos necesita: Prospecto, empresa, giro, tamaño de la empresa, necesidad detectada, interés, presupuesto estimado, urgencia, ultimo contacto, objeción principal, responsable comercial y siguiente acción. 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Datos están incompletos: Presupuesto no definido, acciones ambiguas, falta de información, fecha estimada de cierre, historial de interacciones y etapa del pipeline comercial. 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Datos sensibles y debería anonimizarse: datos del prospecto, email, teléfono, contratos, financiera especifica.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Decisiones que puede sugerir la IA: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Scoring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comercial, clasificación, riesgo de enfriamiento, prioridad de atención, próxima acción recomendada, mensajes de seguimiento, alertas por datos faltantes, resumen ejecutivo para dirección y las recomendaciones deben considerarse sugerencias y no decisiones definitivas. </a:t>
            </a:r>
          </a:p>
          <a:p>
            <a:endParaRPr lang="es-MX" dirty="0"/>
          </a:p>
          <a:p>
            <a:endParaRPr lang="es-MX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34FEE31-ACDB-2B35-853E-BD0D89C86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8706F-DBBC-4EC7-BAED-4F21D8F00145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82696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957FF0D-89B9-DBE9-3BDD-B9ABC0B6503A}"/>
              </a:ext>
            </a:extLst>
          </p:cNvPr>
          <p:cNvSpPr txBox="1"/>
          <p:nvPr/>
        </p:nvSpPr>
        <p:spPr>
          <a:xfrm>
            <a:off x="157655" y="252249"/>
            <a:ext cx="11114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dirty="0"/>
          </a:p>
          <a:p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EB9A95A-EA70-6A46-6DC4-AD742A232BD5}"/>
              </a:ext>
            </a:extLst>
          </p:cNvPr>
          <p:cNvSpPr txBox="1"/>
          <p:nvPr/>
        </p:nvSpPr>
        <p:spPr>
          <a:xfrm>
            <a:off x="0" y="440851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Lo que debe validar un humano: 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Descartar un prospecto, propuestas económicas, definir descuentos, modificar estrategias comerciales, cambiar responsables, enviar mensajes comerciales externos, cerrar o pausar oportunidades. 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Reglas comerciales que deben definirse antes de automatizar: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ICP,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scoring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categorías, riesgo de enfriamiento, tiempos máximos sin seguimiento, responsables por oportunidad, criterios de descarte o pausa, protocolos para manejos de objeciones, acciones que requieren validación humana. 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Formato deben tener los datos para que el agente funcione bien: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Estructura tabular estandarizada (como la base de datos simulada), además catálogos estandarizados, fechas en formato estándar, presupuesto en formato numérico, evitar campos ambiguos o texto libre excesivo y un identificador único por oportunidad. </a:t>
            </a:r>
          </a:p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5198BB-6FA4-568A-00D2-6824665CE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8706F-DBBC-4EC7-BAED-4F21D8F00145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00574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27E6FAB0-9504-7398-ED02-E302282EC631}"/>
              </a:ext>
            </a:extLst>
          </p:cNvPr>
          <p:cNvSpPr txBox="1"/>
          <p:nvPr/>
        </p:nvSpPr>
        <p:spPr>
          <a:xfrm>
            <a:off x="0" y="141505"/>
            <a:ext cx="1219200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2. Diagnostico comercial</a:t>
            </a:r>
          </a:p>
          <a:p>
            <a:endParaRPr lang="es-MX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dirty="0"/>
          </a:p>
          <a:p>
            <a:endParaRPr lang="es-MX" dirty="0"/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0375C5AB-C662-2845-C0DD-885EC8885D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411993"/>
              </p:ext>
            </p:extLst>
          </p:nvPr>
        </p:nvGraphicFramePr>
        <p:xfrm>
          <a:off x="117600" y="774685"/>
          <a:ext cx="6841210" cy="32467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44481">
                  <a:extLst>
                    <a:ext uri="{9D8B030D-6E8A-4147-A177-3AD203B41FA5}">
                      <a16:colId xmlns:a16="http://schemas.microsoft.com/office/drawing/2014/main" val="1531086278"/>
                    </a:ext>
                  </a:extLst>
                </a:gridCol>
                <a:gridCol w="5096729">
                  <a:extLst>
                    <a:ext uri="{9D8B030D-6E8A-4147-A177-3AD203B41FA5}">
                      <a16:colId xmlns:a16="http://schemas.microsoft.com/office/drawing/2014/main" val="771851472"/>
                    </a:ext>
                  </a:extLst>
                </a:gridCol>
              </a:tblGrid>
              <a:tr h="3076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800" kern="100">
                          <a:effectLst/>
                        </a:rPr>
                        <a:t>Tipo</a:t>
                      </a:r>
                      <a:endParaRPr lang="es-MX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800" kern="100">
                          <a:effectLst/>
                        </a:rPr>
                        <a:t>Situación</a:t>
                      </a:r>
                      <a:endParaRPr lang="es-MX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16377512"/>
                  </a:ext>
                </a:extLst>
              </a:tr>
              <a:tr h="3831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Seguimiento</a:t>
                      </a:r>
                      <a:endParaRPr lang="es-MX" sz="18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Prospectos sin contacto durante varios días</a:t>
                      </a:r>
                      <a:endParaRPr lang="es-MX" sz="18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40566709"/>
                  </a:ext>
                </a:extLst>
              </a:tr>
              <a:tr h="3831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Datos</a:t>
                      </a:r>
                      <a:endParaRPr lang="es-MX" sz="18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Presupuestos o decisores no definidos</a:t>
                      </a:r>
                      <a:endParaRPr lang="es-MX" sz="18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12827918"/>
                  </a:ext>
                </a:extLst>
              </a:tr>
              <a:tr h="2995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Vendedores</a:t>
                      </a:r>
                      <a:endParaRPr lang="es-MX" sz="18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Acciones vagas o inexistentes</a:t>
                      </a:r>
                      <a:endParaRPr lang="es-MX" sz="18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38756192"/>
                  </a:ext>
                </a:extLst>
              </a:tr>
              <a:tr h="2995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Dirección</a:t>
                      </a:r>
                      <a:endParaRPr lang="es-MX" sz="18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Falta de visibilidad del pipeline</a:t>
                      </a:r>
                      <a:endParaRPr lang="es-MX" sz="18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22798683"/>
                  </a:ext>
                </a:extLst>
              </a:tr>
              <a:tr h="3831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Priorización</a:t>
                      </a:r>
                      <a:endParaRPr lang="es-MX" sz="18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Todos los prospectos reciben atención similar</a:t>
                      </a:r>
                      <a:endParaRPr lang="es-MX" sz="18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52838597"/>
                  </a:ext>
                </a:extLst>
              </a:tr>
              <a:tr h="3831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Fit Comercial</a:t>
                      </a:r>
                      <a:endParaRPr lang="es-MX" sz="18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Prospectos fuera del mercado objetivo</a:t>
                      </a:r>
                      <a:endParaRPr lang="es-MX" sz="18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1309317"/>
                  </a:ext>
                </a:extLst>
              </a:tr>
              <a:tr h="47500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Cierre</a:t>
                      </a:r>
                      <a:endParaRPr lang="es-MX" sz="18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Objeciones sin tratamiento específico</a:t>
                      </a:r>
                      <a:endParaRPr lang="es-MX" sz="18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9768397"/>
                  </a:ext>
                </a:extLst>
              </a:tr>
              <a:tr h="2995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</a:t>
                      </a:r>
                      <a:endParaRPr lang="es-MX" sz="18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Ausencia de métricas y alertas</a:t>
                      </a:r>
                      <a:endParaRPr lang="es-MX" sz="18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51101448"/>
                  </a:ext>
                </a:extLst>
              </a:tr>
            </a:tbl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3C167C7E-880D-A07F-09A5-D8625552ED1D}"/>
              </a:ext>
            </a:extLst>
          </p:cNvPr>
          <p:cNvSpPr txBox="1"/>
          <p:nvPr/>
        </p:nvSpPr>
        <p:spPr>
          <a:xfrm>
            <a:off x="7076410" y="651052"/>
            <a:ext cx="4997990" cy="5465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CONSECUENCIAS </a:t>
            </a:r>
          </a:p>
          <a:p>
            <a:pPr marL="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1.Ingresos</a:t>
            </a:r>
            <a:endParaRPr lang="es-MX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pérdida de seguimiento, mala priorización y </a:t>
            </a:r>
            <a:r>
              <a:rPr lang="es-MX" kern="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 f</a:t>
            </a:r>
            <a:r>
              <a:rPr lang="es-MX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alta de control generan pérdida directa de oportunidades de venta e ingresos potenciales.</a:t>
            </a:r>
            <a:endParaRPr lang="es-MX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2. Cierre de ventas</a:t>
            </a:r>
            <a:endParaRPr lang="es-MX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Las oportunidades tardan más en avanzar y presentan menor probabilidad de convertirse en clientes.</a:t>
            </a:r>
            <a:endParaRPr lang="es-MX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b="1" kern="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Uso del tiempo comercial</a:t>
            </a:r>
            <a:endParaRPr lang="es-MX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Los vendedores invierten tiempo en prospectos de bajo potencial mientras oportunidades valiosas permanecen sin atención adecuada.</a:t>
            </a:r>
            <a:endParaRPr lang="es-MX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5C430D7-298C-9F5E-52A9-2C30DAF1E94D}"/>
              </a:ext>
            </a:extLst>
          </p:cNvPr>
          <p:cNvSpPr txBox="1"/>
          <p:nvPr/>
        </p:nvSpPr>
        <p:spPr>
          <a:xfrm>
            <a:off x="-421729" y="4231519"/>
            <a:ext cx="7799991" cy="2609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Reputación frente al prospecto</a:t>
            </a:r>
            <a:endParaRPr lang="es-MX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Los retrasos en respuestas y seguimientos generan una percepción de desorganización y reducen la confianza del cliente potencial.</a:t>
            </a:r>
            <a:endParaRPr lang="es-MX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Dirección para decidir</a:t>
            </a:r>
            <a:endParaRPr lang="es-MX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 ausencia de indicadores confiables impide tomar decisiones basadas en evidencia, dificulta la planeación comercial y reduce la capacidad de anticipar riesgos.</a:t>
            </a:r>
            <a:endParaRPr lang="es-MX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Marcador de número de diapositiva 16">
            <a:extLst>
              <a:ext uri="{FF2B5EF4-FFF2-40B4-BE49-F238E27FC236}">
                <a16:creationId xmlns:a16="http://schemas.microsoft.com/office/drawing/2014/main" id="{D8692C1B-6086-D4B5-66F6-A010E7971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8706F-DBBC-4EC7-BAED-4F21D8F00145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82769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565FE0F-1D10-A64E-3372-796BFF306C6C}"/>
              </a:ext>
            </a:extLst>
          </p:cNvPr>
          <p:cNvSpPr txBox="1"/>
          <p:nvPr/>
        </p:nvSpPr>
        <p:spPr>
          <a:xfrm>
            <a:off x="0" y="137161"/>
            <a:ext cx="11114689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3. ICP   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Quien es el cliente ideal: tamaño de la empresa, giro, dolor comercial, presupuesto mínimo, urgencia, decisor identificador, capacidad de implementación,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fit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con solución de IA/automatización y potencial de expansión. </a:t>
            </a: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Quien se descarta: empresa demasiado pequeña, sin presupuesto, sin dueño de proyecto, sin urgencia, fuera del mercado objetivo, prospecto que solo pide información, el que consume tiempo y no avanza además de baja rentabilidad. </a:t>
            </a:r>
          </a:p>
          <a:p>
            <a:endParaRPr lang="es-MX" dirty="0"/>
          </a:p>
          <a:p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DF3C197-BA6B-7AB7-F750-90C74D5276EC}"/>
              </a:ext>
            </a:extLst>
          </p:cNvPr>
          <p:cNvSpPr txBox="1"/>
          <p:nvPr/>
        </p:nvSpPr>
        <p:spPr>
          <a:xfrm>
            <a:off x="0" y="2751891"/>
            <a:ext cx="1111468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s-MX" sz="2800" dirty="0" err="1">
                <a:latin typeface="Arial" panose="020B0604020202020204" pitchFamily="34" charset="0"/>
                <a:cs typeface="Arial" panose="020B0604020202020204" pitchFamily="34" charset="0"/>
              </a:rPr>
              <a:t>Scoring</a:t>
            </a:r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 y clasificación </a:t>
            </a:r>
          </a:p>
          <a:p>
            <a:endParaRPr lang="es-MX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Tabla resumida (debe sumar 100 puntos):</a:t>
            </a:r>
          </a:p>
          <a:p>
            <a:endParaRPr lang="es-MX" dirty="0"/>
          </a:p>
          <a:p>
            <a:endParaRPr lang="es-MX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F98EC479-AF74-8E94-F6A0-D6D179DFFD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928405"/>
              </p:ext>
            </p:extLst>
          </p:nvPr>
        </p:nvGraphicFramePr>
        <p:xfrm>
          <a:off x="5103231" y="3153371"/>
          <a:ext cx="2769524" cy="35661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84762">
                  <a:extLst>
                    <a:ext uri="{9D8B030D-6E8A-4147-A177-3AD203B41FA5}">
                      <a16:colId xmlns:a16="http://schemas.microsoft.com/office/drawing/2014/main" val="3369490794"/>
                    </a:ext>
                  </a:extLst>
                </a:gridCol>
                <a:gridCol w="1384762">
                  <a:extLst>
                    <a:ext uri="{9D8B030D-6E8A-4147-A177-3AD203B41FA5}">
                      <a16:colId xmlns:a16="http://schemas.microsoft.com/office/drawing/2014/main" val="20069078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Puntos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1676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3411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Necesidad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2070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Presupuesto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8337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Urgencia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4148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Interés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0437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Decisor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6795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Riesgo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770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0088834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4AE35B01-3856-7524-F73E-5B1FE05AC429}"/>
              </a:ext>
            </a:extLst>
          </p:cNvPr>
          <p:cNvSpPr txBox="1"/>
          <p:nvPr/>
        </p:nvSpPr>
        <p:spPr>
          <a:xfrm>
            <a:off x="8396534" y="3153371"/>
            <a:ext cx="6160956" cy="1972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Clasifícalos en:</a:t>
            </a:r>
            <a:endParaRPr lang="es-MX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A: prioridad inmediata</a:t>
            </a:r>
            <a:endParaRPr lang="es-MX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B: seguimiento activo</a:t>
            </a:r>
            <a:endParaRPr lang="es-MX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C: nutrir</a:t>
            </a:r>
            <a:endParaRPr lang="es-MX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D: pausar o descartar.</a:t>
            </a:r>
            <a:endParaRPr lang="es-MX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87053AD-CCE9-C658-B7D6-CA348B748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8706F-DBBC-4EC7-BAED-4F21D8F00145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8043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20585D4-159E-CF0E-0AA5-49813D24263A}"/>
              </a:ext>
            </a:extLst>
          </p:cNvPr>
          <p:cNvSpPr txBox="1"/>
          <p:nvPr/>
        </p:nvSpPr>
        <p:spPr>
          <a:xfrm>
            <a:off x="0" y="0"/>
            <a:ext cx="12192000" cy="7602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5. Agente (Radar Comercial IA B2B)</a:t>
            </a:r>
          </a:p>
          <a:p>
            <a:endParaRPr lang="es-MX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Objetivo de agente: Analizar prospectos comerciales y generar recomendaciones objetivas para priorizar el trabajo comercial.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Entradas: prospecto, empresa, giro, tamaño, necesidad, presupuesto, urgencia, interés, objeción, ultimo contacto, responsable y siguiente acción actual. 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Salidas: prospecto, empresa, responsable,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scoring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prioridad, riesgo de enfriamiento, siguiente acción recomendada, mensaje sugerido, objeción principal, responsable, alerta de dato faltante, validación humana y resumen para Dirección. 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Qué hace: analiza prospectos, detecta riesgos, prioriza oportunidades y sugiere acciones. 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Qué no hace: No cierra ventas, no aprueba descuentos, no modifica contratos y no reemplaza al vendedor. 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¿Quién lo usuaria? Vendedor, gerente comercial y/o analista comercial. La dirección consume los resultados. </a:t>
            </a:r>
          </a:p>
          <a:p>
            <a:endParaRPr lang="es-MX" dirty="0"/>
          </a:p>
          <a:p>
            <a:endParaRPr lang="es-MX" dirty="0"/>
          </a:p>
          <a:p>
            <a:endParaRPr lang="es-MX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A6EFCB7-C51D-00FE-8260-1643C7473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81262"/>
            <a:ext cx="11812649" cy="895475"/>
          </a:xfrm>
          <a:prstGeom prst="rect">
            <a:avLst/>
          </a:prstGeom>
        </p:spPr>
      </p:pic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AEF8A9BE-7640-5B28-5AC3-7A08EB37D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8706F-DBBC-4EC7-BAED-4F21D8F00145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52567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F7409A1-939D-CA5F-7C3E-FF19397FCA32}"/>
              </a:ext>
            </a:extLst>
          </p:cNvPr>
          <p:cNvSpPr txBox="1"/>
          <p:nvPr/>
        </p:nvSpPr>
        <p:spPr>
          <a:xfrm>
            <a:off x="0" y="157656"/>
            <a:ext cx="1219200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6. Prototipo</a:t>
            </a:r>
          </a:p>
          <a:p>
            <a:endParaRPr lang="es-MX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Flujo del agente: leer información -&gt; detectar datos faltantes -&gt; evaluar ICP -&gt; evaluar urgencia -&gt; evaluar potencial -&gt; detectar riesgo -&gt; analizar objeciones -&gt; calcular score -&gt; clasificación (A,B C, D) -&gt; recomendar acción -&gt; redactar mensaje -&gt; solicitar validación humana -&gt; generar resumen ejecutivo. 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Restricciones: No inventa datos, no aprueba descuentos, no cierra ventas, no modifica responsables. </a:t>
            </a:r>
          </a:p>
          <a:p>
            <a:endParaRPr lang="es-MX" dirty="0"/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Herramienta que utilice: Gemini Gems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Flujo de funcionamiento: usuario proporciona información del prospecto -&gt; agente aplica las reglas de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scoring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-&gt; clasifica el prospecto -&gt; genera recomendaciones -&gt; sugiere mensajes comerciales. 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Y la validación Humana: Obligatoria antes de cualquier acción comercial. </a:t>
            </a:r>
          </a:p>
          <a:p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4AF881A-F5D6-8D2F-1475-BB7609841ACE}"/>
              </a:ext>
            </a:extLst>
          </p:cNvPr>
          <p:cNvSpPr txBox="1"/>
          <p:nvPr/>
        </p:nvSpPr>
        <p:spPr>
          <a:xfrm>
            <a:off x="1363579" y="5314585"/>
            <a:ext cx="10379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“Agente es el modelo teórico</a:t>
            </a: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Prototipo es el experimento que demuestra que el modelo funciona.” 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6284BC-A308-27D9-B028-CBB268797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8706F-DBBC-4EC7-BAED-4F21D8F00145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89440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8499D07-1558-6D63-5284-E38D06538F66}"/>
              </a:ext>
            </a:extLst>
          </p:cNvPr>
          <p:cNvSpPr txBox="1"/>
          <p:nvPr/>
        </p:nvSpPr>
        <p:spPr>
          <a:xfrm>
            <a:off x="18392" y="13379"/>
            <a:ext cx="111146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7. Pruebas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97F4EBB-2A1D-366B-9DE0-F22BBCA790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6380" r="9849"/>
          <a:stretch>
            <a:fillRect/>
          </a:stretch>
        </p:blipFill>
        <p:spPr bwMode="auto">
          <a:xfrm>
            <a:off x="67053" y="1073223"/>
            <a:ext cx="4268464" cy="159871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E837486-B3EA-0B2E-1539-2E836E436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488" y="1081910"/>
            <a:ext cx="3684456" cy="159871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AB6D940-64BA-3A90-C527-E7D616180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0525" y="1073223"/>
            <a:ext cx="3704422" cy="159871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090B690-21DB-C730-BAD8-B0D06652A5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" y="2808557"/>
            <a:ext cx="3801110" cy="120994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90868705-7AB9-85B2-DD6C-BDFF3ECE9CC4}"/>
              </a:ext>
            </a:extLst>
          </p:cNvPr>
          <p:cNvSpPr txBox="1"/>
          <p:nvPr/>
        </p:nvSpPr>
        <p:spPr>
          <a:xfrm>
            <a:off x="362608" y="707969"/>
            <a:ext cx="3801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Prospecto 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0EF44E9-2615-BB9B-58EE-0BF26674BA98}"/>
              </a:ext>
            </a:extLst>
          </p:cNvPr>
          <p:cNvSpPr txBox="1"/>
          <p:nvPr/>
        </p:nvSpPr>
        <p:spPr>
          <a:xfrm>
            <a:off x="362608" y="4155119"/>
            <a:ext cx="3801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Prospecto B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00724EDC-5FD2-38BE-D4BD-C10458F01D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" y="4546143"/>
            <a:ext cx="3694430" cy="209296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A1AF1AE-8F4F-31F6-1891-2FC3B2C0B2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8163" y="4516298"/>
            <a:ext cx="3731260" cy="215265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7668FAEF-342C-1FAE-310A-74B98324F5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3337" y="4516297"/>
            <a:ext cx="3743960" cy="2122805"/>
          </a:xfrm>
          <a:prstGeom prst="rect">
            <a:avLst/>
          </a:prstGeom>
        </p:spPr>
      </p:pic>
      <p:sp>
        <p:nvSpPr>
          <p:cNvPr id="15" name="Marcador de número de diapositiva 14">
            <a:extLst>
              <a:ext uri="{FF2B5EF4-FFF2-40B4-BE49-F238E27FC236}">
                <a16:creationId xmlns:a16="http://schemas.microsoft.com/office/drawing/2014/main" id="{55299334-D586-8AA6-95C1-12635111E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8706F-DBBC-4EC7-BAED-4F21D8F00145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48993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7EEBE45-A5E5-412A-E83A-CB7D83642B1C}"/>
              </a:ext>
            </a:extLst>
          </p:cNvPr>
          <p:cNvSpPr txBox="1"/>
          <p:nvPr/>
        </p:nvSpPr>
        <p:spPr>
          <a:xfrm>
            <a:off x="0" y="0"/>
            <a:ext cx="3801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Prospecto C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F7B7970-388E-2547-F565-F41ADA52C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92" y="369332"/>
            <a:ext cx="3756025" cy="209486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6B5130D-AC72-23EB-A254-D3FC08D65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1809" y="369332"/>
            <a:ext cx="3780790" cy="159194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B779CF5-FA62-442F-21A6-1BDAFA94C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7214" y="369332"/>
            <a:ext cx="3793490" cy="189674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36224D7-57E1-7587-10DA-EB34C5E417E7}"/>
              </a:ext>
            </a:extLst>
          </p:cNvPr>
          <p:cNvSpPr txBox="1"/>
          <p:nvPr/>
        </p:nvSpPr>
        <p:spPr>
          <a:xfrm>
            <a:off x="80349" y="2648863"/>
            <a:ext cx="3801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Prospecto D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D8E85B0-9D5C-10AC-3E4F-B2A51BFD4E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4194" y="3018194"/>
            <a:ext cx="3843020" cy="219900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2CEC6DD-5AC8-81CC-FEA6-A885A890BE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0193" y="3018195"/>
            <a:ext cx="3695593" cy="219900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0272C28-2C1F-4E18-CC31-70AE939D7E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92" y="3018194"/>
            <a:ext cx="3842385" cy="1320165"/>
          </a:xfrm>
          <a:prstGeom prst="rect">
            <a:avLst/>
          </a:prstGeom>
        </p:spPr>
      </p:pic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E00F632B-0003-B6BA-2819-78C2754F0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8706F-DBBC-4EC7-BAED-4F21D8F00145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7101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E35CA8C-0BA3-1EEE-8869-A7D49B4A006F}"/>
              </a:ext>
            </a:extLst>
          </p:cNvPr>
          <p:cNvSpPr txBox="1"/>
          <p:nvPr/>
        </p:nvSpPr>
        <p:spPr>
          <a:xfrm>
            <a:off x="-1" y="0"/>
            <a:ext cx="68178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Un caso dudoso o con datos incompletos.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4C2F74C-D120-A834-5418-DE5D49AA0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2" y="646331"/>
            <a:ext cx="5930266" cy="211608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96C6D32-E796-64B0-A7D5-A6A11C9EC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180" y="646331"/>
            <a:ext cx="4952614" cy="261246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0033680-0D6F-A845-C8F9-660FA974C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273" y="3627278"/>
            <a:ext cx="5729403" cy="248168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B2BDEC5-7202-C94B-593D-A3F3F81CA4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5180" y="3627278"/>
            <a:ext cx="5408889" cy="1875164"/>
          </a:xfrm>
          <a:prstGeom prst="rect">
            <a:avLst/>
          </a:prstGeom>
        </p:spPr>
      </p:pic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7B99C68-66EC-F03A-A38C-ACE45D4DA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8706F-DBBC-4EC7-BAED-4F21D8F00145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57669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794D261-C353-30FA-0992-18C1D620F7EF}"/>
              </a:ext>
            </a:extLst>
          </p:cNvPr>
          <p:cNvSpPr txBox="1"/>
          <p:nvPr/>
        </p:nvSpPr>
        <p:spPr>
          <a:xfrm>
            <a:off x="409904" y="157817"/>
            <a:ext cx="111146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8. Next </a:t>
            </a:r>
            <a:r>
              <a:rPr lang="es-MX" sz="2800" dirty="0" err="1"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 con dueño y fecha 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08A39CE7-4C17-2CBA-45EA-771576241F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91412"/>
              </p:ext>
            </p:extLst>
          </p:nvPr>
        </p:nvGraphicFramePr>
        <p:xfrm>
          <a:off x="268012" y="700961"/>
          <a:ext cx="11745311" cy="58553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1196">
                  <a:extLst>
                    <a:ext uri="{9D8B030D-6E8A-4147-A177-3AD203B41FA5}">
                      <a16:colId xmlns:a16="http://schemas.microsoft.com/office/drawing/2014/main" val="1968091121"/>
                    </a:ext>
                  </a:extLst>
                </a:gridCol>
                <a:gridCol w="789399">
                  <a:extLst>
                    <a:ext uri="{9D8B030D-6E8A-4147-A177-3AD203B41FA5}">
                      <a16:colId xmlns:a16="http://schemas.microsoft.com/office/drawing/2014/main" val="2840303413"/>
                    </a:ext>
                  </a:extLst>
                </a:gridCol>
                <a:gridCol w="3752193">
                  <a:extLst>
                    <a:ext uri="{9D8B030D-6E8A-4147-A177-3AD203B41FA5}">
                      <a16:colId xmlns:a16="http://schemas.microsoft.com/office/drawing/2014/main" val="3994185697"/>
                    </a:ext>
                  </a:extLst>
                </a:gridCol>
                <a:gridCol w="617484">
                  <a:extLst>
                    <a:ext uri="{9D8B030D-6E8A-4147-A177-3AD203B41FA5}">
                      <a16:colId xmlns:a16="http://schemas.microsoft.com/office/drawing/2014/main" val="75050190"/>
                    </a:ext>
                  </a:extLst>
                </a:gridCol>
                <a:gridCol w="1179785">
                  <a:extLst>
                    <a:ext uri="{9D8B030D-6E8A-4147-A177-3AD203B41FA5}">
                      <a16:colId xmlns:a16="http://schemas.microsoft.com/office/drawing/2014/main" val="3346647395"/>
                    </a:ext>
                  </a:extLst>
                </a:gridCol>
                <a:gridCol w="3815254">
                  <a:extLst>
                    <a:ext uri="{9D8B030D-6E8A-4147-A177-3AD203B41FA5}">
                      <a16:colId xmlns:a16="http://schemas.microsoft.com/office/drawing/2014/main" val="4284255340"/>
                    </a:ext>
                  </a:extLst>
                </a:gridCol>
              </a:tblGrid>
              <a:tr h="1216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Prospecto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Prioridad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Siguiente acción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Dueño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Fecha sugerida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Objetivo de la acción</a:t>
                      </a:r>
                      <a:endParaRPr lang="es-MX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extLst>
                  <a:ext uri="{0D108BD9-81ED-4DB2-BD59-A6C34878D82A}">
                    <a16:rowId xmlns:a16="http://schemas.microsoft.com/office/drawing/2014/main" val="2752877395"/>
                  </a:ext>
                </a:extLst>
              </a:tr>
              <a:tr h="5959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Carlos Méndez</a:t>
                      </a:r>
                      <a:endParaRPr lang="es-MX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s-MX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Agendar sesión ejecutiva de 30 minutos para presentar cálculo de ROI y estimación de ahorro en tiempos de cotización.</a:t>
                      </a:r>
                      <a:endParaRPr lang="es-MX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Luis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13-Jun-2026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Resolver la objeción financiera y obtener autorización para propuesta formal.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extLst>
                  <a:ext uri="{0D108BD9-81ED-4DB2-BD59-A6C34878D82A}">
                    <a16:rowId xmlns:a16="http://schemas.microsoft.com/office/drawing/2014/main" val="1446955736"/>
                  </a:ext>
                </a:extLst>
              </a:tr>
              <a:tr h="5959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Jorge Salinas</a:t>
                      </a:r>
                      <a:endParaRPr lang="es-MX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Coordinar reunión con Dirección para revisar beneficios esperados y validar aprobación presupuestal.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Luis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13-Jun-2026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Conseguir autorización ejecutiva para avanzar al cierre comercial.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extLst>
                  <a:ext uri="{0D108BD9-81ED-4DB2-BD59-A6C34878D82A}">
                    <a16:rowId xmlns:a16="http://schemas.microsoft.com/office/drawing/2014/main" val="3723623987"/>
                  </a:ext>
                </a:extLst>
              </a:tr>
              <a:tr h="5959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Ricardo Vega</a:t>
                      </a:r>
                      <a:endParaRPr lang="es-MX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Realizar demostración del dashboard comercial utilizando un caso de éxito similar al sector textil.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Mariana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13-Jun-2026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Validar valor de negocio y avanzar a propuesta económica.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extLst>
                  <a:ext uri="{0D108BD9-81ED-4DB2-BD59-A6C34878D82A}">
                    <a16:rowId xmlns:a16="http://schemas.microsoft.com/office/drawing/2014/main" val="823088441"/>
                  </a:ext>
                </a:extLst>
              </a:tr>
              <a:tr h="4774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Daniel Gómez</a:t>
                      </a:r>
                      <a:endParaRPr lang="es-MX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Ejecutar reunión técnica enfocada en seguridad, privacidad y gobierno de datos.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Luis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12-Jun-2026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Eliminar la objeción relacionada con protección de datos.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extLst>
                  <a:ext uri="{0D108BD9-81ED-4DB2-BD59-A6C34878D82A}">
                    <a16:rowId xmlns:a16="http://schemas.microsoft.com/office/drawing/2014/main" val="637205925"/>
                  </a:ext>
                </a:extLst>
              </a:tr>
              <a:tr h="5959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Fernando López</a:t>
                      </a:r>
                      <a:endParaRPr lang="es-MX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Presentar alcance técnico detallado con cronograma, entregables y requerimientos de implementación.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Luis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12-Jun-2026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Resolver dudas de implementación y avanzar a negociación final.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extLst>
                  <a:ext uri="{0D108BD9-81ED-4DB2-BD59-A6C34878D82A}">
                    <a16:rowId xmlns:a16="http://schemas.microsoft.com/office/drawing/2014/main" val="3182239204"/>
                  </a:ext>
                </a:extLst>
              </a:tr>
              <a:tr h="5959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Sonia Pérez</a:t>
                      </a:r>
                      <a:endParaRPr lang="es-MX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Realizar llamada de reactivación por canal alternativo y solicitar confirmación de interés comercial.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Pedro</a:t>
                      </a:r>
                      <a:endParaRPr lang="es-MX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11-Jun-2026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Determinar si la oportunidad continúa activa o pasa a nutrición.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extLst>
                  <a:ext uri="{0D108BD9-81ED-4DB2-BD59-A6C34878D82A}">
                    <a16:rowId xmlns:a16="http://schemas.microsoft.com/office/drawing/2014/main" val="3317813150"/>
                  </a:ext>
                </a:extLst>
              </a:tr>
              <a:tr h="5959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Ana Ruiz</a:t>
                      </a:r>
                      <a:endParaRPr lang="es-MX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Agendar sesión de descubrimiento para cuantificar impacto operativo y definir presupuesto estimado.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Mariana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12-Jun-2026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Obtener presupuesto y validar prioridad real del proyecto.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extLst>
                  <a:ext uri="{0D108BD9-81ED-4DB2-BD59-A6C34878D82A}">
                    <a16:rowId xmlns:a16="http://schemas.microsoft.com/office/drawing/2014/main" val="3525590583"/>
                  </a:ext>
                </a:extLst>
              </a:tr>
              <a:tr h="4774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Laura Castillo</a:t>
                      </a:r>
                      <a:endParaRPr lang="es-MX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Identificar al responsable del proyecto y coordinar reunión conjunta con el decisor interno.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Mariana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16-Jun-2026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Incorporar al tomador de decisiones al proceso comercial.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extLst>
                  <a:ext uri="{0D108BD9-81ED-4DB2-BD59-A6C34878D82A}">
                    <a16:rowId xmlns:a16="http://schemas.microsoft.com/office/drawing/2014/main" val="1479905760"/>
                  </a:ext>
                </a:extLst>
              </a:tr>
              <a:tr h="5959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Marcela Torres</a:t>
                      </a:r>
                      <a:endParaRPr lang="es-MX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Realizar llamada de diagnóstico para analizar la percepción de costo y calcular retorno esperado.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Pedro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16-Jun-2026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Reducir objeción de precio y validar intención de compra.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extLst>
                  <a:ext uri="{0D108BD9-81ED-4DB2-BD59-A6C34878D82A}">
                    <a16:rowId xmlns:a16="http://schemas.microsoft.com/office/drawing/2014/main" val="2194954595"/>
                  </a:ext>
                </a:extLst>
              </a:tr>
              <a:tr h="4774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Teresa Molina</a:t>
                      </a:r>
                      <a:endParaRPr lang="es-MX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es-MX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Revisar alineación con el cliente ideal y evaluar rentabilidad potencial de la oportunidad.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Pedro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17-Jun-2026</a:t>
                      </a:r>
                      <a:endParaRPr lang="es-MX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Determinar si la oportunidad debe continuar o pasar a descarte.</a:t>
                      </a:r>
                      <a:endParaRPr lang="es-MX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081" marR="4081" marT="4081" marB="4081" anchor="ctr"/>
                </a:tc>
                <a:extLst>
                  <a:ext uri="{0D108BD9-81ED-4DB2-BD59-A6C34878D82A}">
                    <a16:rowId xmlns:a16="http://schemas.microsoft.com/office/drawing/2014/main" val="3362100218"/>
                  </a:ext>
                </a:extLst>
              </a:tr>
            </a:tbl>
          </a:graphicData>
        </a:graphic>
      </p:graphicFrame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89BCBF-205C-530C-D5F5-BD4D4D783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8706F-DBBC-4EC7-BAED-4F21D8F00145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51690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8C77CA4-554A-4D34-C1B5-89E3424D1405}"/>
              </a:ext>
            </a:extLst>
          </p:cNvPr>
          <p:cNvSpPr txBox="1"/>
          <p:nvPr/>
        </p:nvSpPr>
        <p:spPr>
          <a:xfrm>
            <a:off x="440120" y="583486"/>
            <a:ext cx="111146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9. Manejo de mensajes y objeciones. 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FE4B238-FA12-380E-5225-FA9853A2A54C}"/>
              </a:ext>
            </a:extLst>
          </p:cNvPr>
          <p:cNvSpPr txBox="1"/>
          <p:nvPr/>
        </p:nvSpPr>
        <p:spPr>
          <a:xfrm>
            <a:off x="0" y="1274564"/>
            <a:ext cx="11994931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buNone/>
            </a:pPr>
            <a:r>
              <a:rPr lang="es-MX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Prospecto caliente</a:t>
            </a:r>
            <a:endParaRPr lang="es-MX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buNone/>
            </a:pPr>
            <a:r>
              <a:rPr lang="es-MX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Hola [Nombre], gracias por tu interés. Considerando las necesidades que revisamos, me gustaría agendar una demostración de 30 minutos para mostrar cómo la solución puede apoyar sus objetivos. ¿Te funciona esta semana?</a:t>
            </a:r>
          </a:p>
          <a:p>
            <a:pPr marL="457200">
              <a:buNone/>
            </a:pPr>
            <a:endParaRPr lang="es-MX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buNone/>
            </a:pPr>
            <a:r>
              <a:rPr lang="es-MX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Objeción de ROI (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Retorno sobre la inversión</a:t>
            </a:r>
            <a:r>
              <a:rPr lang="es-MX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o precio</a:t>
            </a:r>
            <a:endParaRPr lang="es-MX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buNone/>
            </a:pPr>
            <a:r>
              <a:rPr lang="es-MX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Entiendo la importancia de evaluar la inversión. Podemos revisar juntos un caso de negocio y estimar el impacto esperado para su operación. ¿Te parece si agendamos una llamada de 20 minutos para revisarlo?</a:t>
            </a:r>
          </a:p>
          <a:p>
            <a:pPr marL="457200">
              <a:buNone/>
            </a:pPr>
            <a:endParaRPr lang="es-MX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buNone/>
            </a:pPr>
            <a:r>
              <a:rPr lang="es-MX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Prospecto frío</a:t>
            </a:r>
            <a:endParaRPr lang="es-MX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buNone/>
            </a:pPr>
            <a:r>
              <a:rPr lang="es-MX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Hola [Nombre], espero que estés bien. Quisiera confirmar si esta iniciativa sigue siendo una prioridad para ustedes. Si el momento no es adecuado, podemos retomar la conversación más adelante. Quedo atento.</a:t>
            </a:r>
          </a:p>
          <a:p>
            <a:pPr marL="457200">
              <a:buNone/>
            </a:pPr>
            <a:endParaRPr lang="es-MX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buNone/>
            </a:pPr>
            <a:r>
              <a:rPr lang="es-MX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Seguridad de datos</a:t>
            </a:r>
            <a:endParaRPr lang="es-MX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buNone/>
            </a:pPr>
            <a:r>
              <a:rPr lang="es-MX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Comprendo tu preocupación respecto a la seguridad de la información. Podemos revisar nuestros controles, políticas y mecanismos de protección durante una sesión técnica. ¿Qué día te sería conveniente?</a:t>
            </a:r>
            <a:endParaRPr lang="es-MX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C8F100-2E26-E16B-A848-0A4900242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8706F-DBBC-4EC7-BAED-4F21D8F00145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7674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67ACD70-C1EF-02AA-5A7C-22E493E90142}"/>
              </a:ext>
            </a:extLst>
          </p:cNvPr>
          <p:cNvSpPr txBox="1"/>
          <p:nvPr/>
        </p:nvSpPr>
        <p:spPr>
          <a:xfrm>
            <a:off x="362608" y="157656"/>
            <a:ext cx="111146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10. </a:t>
            </a:r>
            <a:r>
              <a:rPr lang="es-MX" sz="2800" dirty="0" err="1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D1F1429-8331-72C8-B144-A0D6CBD4C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08" y="827948"/>
            <a:ext cx="9507277" cy="331516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FE71E66-87D1-55D0-0440-4A0D980CE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8077" y="4338309"/>
            <a:ext cx="9107171" cy="2410161"/>
          </a:xfrm>
          <a:prstGeom prst="rect">
            <a:avLst/>
          </a:prstGeom>
        </p:spPr>
      </p:pic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59FAC74E-8B96-172A-6F79-1D190A9C0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8706F-DBBC-4EC7-BAED-4F21D8F00145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21508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5546FA5-5877-24EB-3BBF-46A5ADAA4EA2}"/>
              </a:ext>
            </a:extLst>
          </p:cNvPr>
          <p:cNvSpPr txBox="1"/>
          <p:nvPr/>
        </p:nvSpPr>
        <p:spPr>
          <a:xfrm>
            <a:off x="0" y="1089898"/>
            <a:ext cx="1219200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11. Riesgos y Automatización</a:t>
            </a:r>
          </a:p>
          <a:p>
            <a:endParaRPr lang="es-MX" dirty="0"/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Automatizo: el flujo siguiente si se podría automatizar, mi propuesta: 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Excel  -&gt; Limpieza de datos -&gt;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Scoring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Python -&gt;  Excel -&gt; Gemini Gem -&gt;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Ejecutivo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 automatizo: Aprobación de descuentos comerciales, aprobación de propuestas económicas, decisión final de descartar un prospecto, cierre formal de una venta, negociaciones contractuales, definición de precios. 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Por ejemplo: “si la IA inventa información como impacto tenemos las decisiones comerciales incorrectas o perdida de credibilidad y como control propuesto seria no inventar datos por ende todo dato faltante deberá marcarse como no disponible”. </a:t>
            </a:r>
          </a:p>
          <a:p>
            <a:endParaRPr lang="es-MX" dirty="0"/>
          </a:p>
          <a:p>
            <a:endParaRPr lang="es-MX" dirty="0"/>
          </a:p>
          <a:p>
            <a:endParaRPr lang="es-MX" dirty="0"/>
          </a:p>
          <a:p>
            <a:endParaRPr lang="es-MX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6946C6B-0094-C49A-1B20-87566D462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8706F-DBBC-4EC7-BAED-4F21D8F00145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44537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CBE96B6-D2E5-6516-943F-8D394AB2BFD9}"/>
              </a:ext>
            </a:extLst>
          </p:cNvPr>
          <p:cNvSpPr txBox="1"/>
          <p:nvPr/>
        </p:nvSpPr>
        <p:spPr>
          <a:xfrm>
            <a:off x="141890" y="110359"/>
            <a:ext cx="111146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12. Producto</a:t>
            </a: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Radar Comercial IA para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PyMEs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| 30 días | $25,000 MXN</a:t>
            </a:r>
          </a:p>
          <a:p>
            <a:endParaRPr lang="es-MX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7B5ABF7-93A2-796D-60C5-FF8AD6581E3B}"/>
              </a:ext>
            </a:extLst>
          </p:cNvPr>
          <p:cNvSpPr txBox="1"/>
          <p:nvPr/>
        </p:nvSpPr>
        <p:spPr>
          <a:xfrm>
            <a:off x="0" y="1495842"/>
            <a:ext cx="12192000" cy="3866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Problema</a:t>
            </a:r>
            <a:r>
              <a:rPr lang="es-MX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s-MX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Falta de priorización y seguimiento comercial.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Entregables: </a:t>
            </a:r>
            <a:r>
              <a:rPr lang="es-MX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Scoring</a:t>
            </a:r>
            <a:r>
              <a:rPr lang="es-MX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s-MX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</a:t>
            </a:r>
            <a:r>
              <a:rPr lang="es-MX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ashboard</a:t>
            </a:r>
            <a:r>
              <a:rPr lang="es-MX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a</a:t>
            </a:r>
            <a:r>
              <a:rPr lang="es-MX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gente IA</a:t>
            </a:r>
            <a:r>
              <a:rPr lang="es-MX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c</a:t>
            </a:r>
            <a:r>
              <a:rPr lang="es-MX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apacitación, </a:t>
            </a:r>
            <a:r>
              <a:rPr lang="es-MX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</a:t>
            </a:r>
            <a:r>
              <a:rPr lang="es-MX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ocumentación.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Duración: </a:t>
            </a:r>
            <a:r>
              <a:rPr lang="es-MX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 semanas (Diagnostico + Implementación + Capacitación + Ajustes)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Precio sugerido: </a:t>
            </a:r>
            <a:r>
              <a:rPr lang="es-MX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$25,000 MXN.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Beneficio esperado</a:t>
            </a:r>
            <a:r>
              <a:rPr lang="es-MX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s-MX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Mayor productividad comercial</a:t>
            </a:r>
            <a:r>
              <a:rPr lang="es-MX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m</a:t>
            </a:r>
            <a:r>
              <a:rPr lang="es-MX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ejor seguimiento. más oportunidades atendidas</a:t>
            </a:r>
            <a:r>
              <a:rPr lang="es-MX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m</a:t>
            </a:r>
            <a:r>
              <a:rPr lang="es-MX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ayor visibilidad para dirección.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s-MX" kern="1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Justificación del precio: </a:t>
            </a:r>
            <a:r>
              <a:rPr lang="es-MX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 costo es a</a:t>
            </a:r>
            <a:r>
              <a:rPr lang="es-MX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ccesible para una </a:t>
            </a:r>
            <a:r>
              <a:rPr lang="es-MX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PyME</a:t>
            </a:r>
            <a:r>
              <a:rPr lang="es-MX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y significativamente menor al de una consultoría corporativa tradicional, permitiendo validar el valor de la solución mediante un piloto antes de escalar a fases posteriores. 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6E4A99-984E-158C-E9AB-A57F8E6D0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8706F-DBBC-4EC7-BAED-4F21D8F00145}" type="slidenum">
              <a:rPr lang="es-MX" smtClean="0"/>
              <a:t>15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970344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31D8F74-9804-3FA6-E567-A936164876EE}"/>
              </a:ext>
            </a:extLst>
          </p:cNvPr>
          <p:cNvSpPr txBox="1"/>
          <p:nvPr/>
        </p:nvSpPr>
        <p:spPr>
          <a:xfrm>
            <a:off x="0" y="224589"/>
            <a:ext cx="12192000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13. Escalabilidad y liderazgo </a:t>
            </a: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Imagina que en 12 meses debes liderar esta área.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¿Qué dejarías documentado para repetir este proyecto con 5 clientes? </a:t>
            </a:r>
          </a:p>
          <a:p>
            <a:pPr lvl="0"/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Metodologia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ICP,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scoring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clasificación, 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prompt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maestro, pruebas y validación, manual de usuario y flujo del proceso. </a:t>
            </a:r>
          </a:p>
          <a:p>
            <a:pPr lvl="0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¿Qué haría el PMO (Oficina de Gestión de Proyectos)? </a:t>
            </a:r>
          </a:p>
          <a:p>
            <a:pPr lvl="0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Coordinar cronograma, gestionar el alcance del proyecto, dar seguimiento a entregables, organizar reuniones con cliente, gestionar riesgos y cambios, cumplimiento de fechas y documentación actualizada. </a:t>
            </a:r>
          </a:p>
          <a:p>
            <a:pPr lvl="0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¿Qué haría el analista IA? </a:t>
            </a:r>
          </a:p>
          <a:p>
            <a:pPr lvl="0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Configurar agentes IA, mantener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prompts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validar calidad de respuestas, ajustar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scoring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cuando sea necesario, monitorear métricas de desempeño, detectar sesgos o errores y proponer mejoras continuas.</a:t>
            </a:r>
          </a:p>
          <a:p>
            <a:pPr lvl="0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¿Qué haría un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partner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técnico externo?</a:t>
            </a:r>
          </a:p>
          <a:p>
            <a:pPr lvl="0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Integraciones con CRM (Gestión de Relaciones con Clientes), automatizaciones con n8n,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Make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Zapier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desarrollo de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APIs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infraestructura y despliegue, seguridad y gobierno de datos, soporte técnico especializado. </a:t>
            </a:r>
          </a:p>
          <a:p>
            <a:pPr lvl="0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¿Qué debe validar Dirección? </a:t>
            </a:r>
          </a:p>
          <a:p>
            <a:pPr lvl="0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ICP, criterios de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scoring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reglas comerciales, riesgos aceptables, KPIS de éxito, presupuesto del proyecto, automatizaciones criticas y decisiones de descarte masivo de prospectos. </a:t>
            </a:r>
          </a:p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1AEA92-F047-AE1E-3BA0-6303ECDE9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8706F-DBBC-4EC7-BAED-4F21D8F00145}" type="slidenum">
              <a:rPr lang="es-MX" smtClean="0"/>
              <a:t>16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1438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C68DA90-1463-BADD-2EF2-0E46AD3683F4}"/>
              </a:ext>
            </a:extLst>
          </p:cNvPr>
          <p:cNvSpPr txBox="1"/>
          <p:nvPr/>
        </p:nvSpPr>
        <p:spPr>
          <a:xfrm>
            <a:off x="1" y="197346"/>
            <a:ext cx="5502442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¿Qué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checklist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usarías antes de iniciar con un cliente?</a:t>
            </a:r>
          </a:p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☐ Existe base de prospectos.</a:t>
            </a: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☐ Campos mínimos completos.</a:t>
            </a: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☐ responsable asignado.</a:t>
            </a: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☐ Historial comercial disponible.</a:t>
            </a:r>
          </a:p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Negocio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☐ ICP definido.</a:t>
            </a: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☐ Objetivos comerciales definidos.</a:t>
            </a: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☐ Proceso comercial documentado.</a:t>
            </a: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☐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KPIs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acordados.</a:t>
            </a:r>
          </a:p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Tecnología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☐ Herramienta de almacenamiento definida.</a:t>
            </a: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☐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definido.</a:t>
            </a: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☐ Accesos autorizados.</a:t>
            </a: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☐ Respaldo de información configurado.</a:t>
            </a:r>
          </a:p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Gobierno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☐ responsable del proyecto identificado.</a:t>
            </a: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☐ Aprobación de Dirección.</a:t>
            </a: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☐ Política de validación humana acordada</a:t>
            </a:r>
            <a:r>
              <a:rPr lang="es-MX" dirty="0"/>
              <a:t>.</a:t>
            </a:r>
          </a:p>
          <a:p>
            <a:pPr lvl="0"/>
            <a:endParaRPr lang="es-MX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1967183-548A-7AF3-2065-1270219CB105}"/>
              </a:ext>
            </a:extLst>
          </p:cNvPr>
          <p:cNvSpPr txBox="1"/>
          <p:nvPr/>
        </p:nvSpPr>
        <p:spPr>
          <a:xfrm>
            <a:off x="5670885" y="197345"/>
            <a:ext cx="5502442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¿Qué indicadores usarías para saber si el área funciona?</a:t>
            </a:r>
          </a:p>
          <a:p>
            <a:pPr lvl="0"/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Operativos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% de prospectos clasificados.</a:t>
            </a:r>
          </a:p>
          <a:p>
            <a:pPr lvl="0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% de registros completos.</a:t>
            </a:r>
          </a:p>
          <a:p>
            <a:pPr lvl="0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Tiempo promedio de actualización.</a:t>
            </a:r>
          </a:p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Comerciales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Conversión A → Venta.</a:t>
            </a:r>
          </a:p>
          <a:p>
            <a:pPr lvl="0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Conversión B → Venta.</a:t>
            </a:r>
          </a:p>
          <a:p>
            <a:pPr lvl="0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Tasa de respuesta comercial.</a:t>
            </a:r>
          </a:p>
          <a:p>
            <a:pPr lvl="0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Tiempo promedio de cierre.</a:t>
            </a:r>
          </a:p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Dirección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Valor total del pipeline.</a:t>
            </a:r>
          </a:p>
          <a:p>
            <a:pPr lvl="0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Monto por categoría.</a:t>
            </a:r>
          </a:p>
          <a:p>
            <a:pPr lvl="0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Oportunidades en riesgo.</a:t>
            </a:r>
          </a:p>
          <a:p>
            <a:pPr lvl="0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Cumplimiento de seguimiento.</a:t>
            </a:r>
          </a:p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IA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Precisión de clasificación.</a:t>
            </a:r>
          </a:p>
          <a:p>
            <a:pPr lvl="0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Recomendaciones aceptadas por vendedores.</a:t>
            </a:r>
          </a:p>
          <a:p>
            <a:pPr lvl="0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Alertas útiles generadas.</a:t>
            </a:r>
          </a:p>
          <a:p>
            <a:pPr lvl="0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Casos corregidos manualmente.</a:t>
            </a:r>
          </a:p>
          <a:p>
            <a:pPr lvl="0"/>
            <a:endParaRPr 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848BCBD-2677-1C78-9676-5473092CE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8706F-DBBC-4EC7-BAED-4F21D8F00145}" type="slidenum">
              <a:rPr lang="es-MX" smtClean="0"/>
              <a:t>17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38722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0F6C825-1ADA-3841-223C-1102BB96FF5E}"/>
              </a:ext>
            </a:extLst>
          </p:cNvPr>
          <p:cNvSpPr txBox="1"/>
          <p:nvPr/>
        </p:nvSpPr>
        <p:spPr>
          <a:xfrm>
            <a:off x="352927" y="305309"/>
            <a:ext cx="5534526" cy="3535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s-MX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¿Qué tres herramientas estudiarías en los próximos 90 días y por qué?</a:t>
            </a:r>
          </a:p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1. n8n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Permite automatizar procesos empresariales de forma flexible y económica.</a:t>
            </a:r>
          </a:p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2. Power BI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Permite construir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dashboards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ejecutivos y analíticos para Dirección.</a:t>
            </a:r>
          </a:p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s-MX" b="1" dirty="0" err="1">
                <a:latin typeface="Arial" panose="020B0604020202020204" pitchFamily="34" charset="0"/>
                <a:cs typeface="Arial" panose="020B0604020202020204" pitchFamily="34" charset="0"/>
              </a:rPr>
              <a:t>Airflow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Permite orquestar procesos automáticos de datos,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scoring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y monitoreo a escala.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s-MX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41D92F-E9B0-6476-8CE1-4685066BA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8706F-DBBC-4EC7-BAED-4F21D8F00145}" type="slidenum">
              <a:rPr lang="es-MX" smtClean="0"/>
              <a:t>18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775440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537</TotalTime>
  <Words>2191</Words>
  <Application>Microsoft Office PowerPoint</Application>
  <PresentationFormat>Panorámica</PresentationFormat>
  <Paragraphs>322</Paragraphs>
  <Slides>18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Symbol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zabu</dc:creator>
  <cp:lastModifiedBy>zabu</cp:lastModifiedBy>
  <cp:revision>7</cp:revision>
  <dcterms:created xsi:type="dcterms:W3CDTF">2026-06-11T14:16:52Z</dcterms:created>
  <dcterms:modified xsi:type="dcterms:W3CDTF">2026-06-12T00:44:25Z</dcterms:modified>
</cp:coreProperties>
</file>